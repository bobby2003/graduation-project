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  <p:sldMasterId id="2147483679" r:id="rId4"/>
  </p:sldMasterIdLst>
  <p:sldIdLst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3.xml"/><Relationship Id="rId7" Type="http://schemas.openxmlformats.org/officeDocument/2006/relationships/image" Target="file:///C:\Users\Administrator\Desktop\&#32032;&#26448;&#20998;&#31867;\&#21307;&#30103;&#32032;&#26448;\&#20027;&#39064;\&#22270;&#29255;9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2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4" Type="http://schemas.openxmlformats.org/officeDocument/2006/relationships/tags" Target="../tags/tag7.xml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tags" Target="../tags/tag4.xml"/><Relationship Id="rId10" Type="http://schemas.openxmlformats.org/officeDocument/2006/relationships/image" Target="file:///F:\Lets_Create/pic_temp/0_pic_quater_right_up.png" TargetMode="Externa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5.xml"/><Relationship Id="rId5" Type="http://schemas.openxmlformats.org/officeDocument/2006/relationships/image" Target="file:///F:\Lets_Create/pic_temp/pic_sup.png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image" Target="file:///F:\Lets_Create/pic_temp/pic_half_top.png" TargetMode="External"/><Relationship Id="rId7" Type="http://schemas.openxmlformats.org/officeDocument/2006/relationships/image" Target="../media/image6.png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36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image" Target="file:///F:\Lets_Create/pic_temp/pic_half_down.png" TargetMode="Externa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64.xml"/><Relationship Id="rId7" Type="http://schemas.openxmlformats.org/officeDocument/2006/relationships/image" Target="file:///C:\Users\Administrator\Desktop\&#32032;&#26448;&#20998;&#31867;\&#21307;&#30103;&#32032;&#26448;\&#20027;&#39064;\&#22270;&#29255;9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63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2.xml"/><Relationship Id="rId14" Type="http://schemas.openxmlformats.org/officeDocument/2006/relationships/tags" Target="../tags/tag68.xml"/><Relationship Id="rId13" Type="http://schemas.openxmlformats.org/officeDocument/2006/relationships/tags" Target="../tags/tag67.xml"/><Relationship Id="rId12" Type="http://schemas.openxmlformats.org/officeDocument/2006/relationships/tags" Target="../tags/tag66.xml"/><Relationship Id="rId11" Type="http://schemas.openxmlformats.org/officeDocument/2006/relationships/tags" Target="../tags/tag65.xml"/><Relationship Id="rId10" Type="http://schemas.openxmlformats.org/officeDocument/2006/relationships/image" Target="file:///F:\Lets_Create/pic_temp/0_pic_quater_right_up.png" TargetMode="Externa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image" Target="file:///F:\Lets_Create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70.xml"/><Relationship Id="rId4" Type="http://schemas.openxmlformats.org/officeDocument/2006/relationships/image" Target="file:///F:\Lets_Create/pic_temp/0_pic_quater_right_up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69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2.png"/><Relationship Id="rId6" Type="http://schemas.openxmlformats.org/officeDocument/2006/relationships/tags" Target="../tags/tag77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3.png"/><Relationship Id="rId6" Type="http://schemas.openxmlformats.org/officeDocument/2006/relationships/tags" Target="../tags/tag85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4.png"/><Relationship Id="rId6" Type="http://schemas.openxmlformats.org/officeDocument/2006/relationships/tags" Target="../tags/tag94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4.png"/><Relationship Id="rId6" Type="http://schemas.openxmlformats.org/officeDocument/2006/relationships/tags" Target="../tags/tag103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4.png"/><Relationship Id="rId6" Type="http://schemas.openxmlformats.org/officeDocument/2006/relationships/tags" Target="../tags/tag112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15.png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16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137.xml"/><Relationship Id="rId7" Type="http://schemas.openxmlformats.org/officeDocument/2006/relationships/image" Target="file:///C:\Users\Administrator\Desktop\&#32032;&#26448;&#20998;&#31867;\&#21307;&#30103;&#32032;&#26448;\&#20027;&#39064;\&#22270;&#29255;9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136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35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image" Target="file:///F:\Lets_Create/pic_temp/0_pic_quater_right_up.png" TargetMode="Externa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image" Target="file:///F:\Lets_Create/pic_temp/pic_half_left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49.xml"/><Relationship Id="rId5" Type="http://schemas.openxmlformats.org/officeDocument/2006/relationships/image" Target="file:///F:\Lets_Create/pic_temp/pic_sup.png" TargetMode="External"/><Relationship Id="rId4" Type="http://schemas.openxmlformats.org/officeDocument/2006/relationships/image" Target="../media/image1.png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image" Target="file:///F:\Lets_Create/pic_temp/pic_half_right.png" TargetMode="Externa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file:///F:\Lets_Create/pic_temp/pic_half_top.png" TargetMode="External"/><Relationship Id="rId7" Type="http://schemas.openxmlformats.org/officeDocument/2006/relationships/image" Target="../media/image6.png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70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image" Target="file:///F:\Lets_Create/pic_temp/pic_half_down.png" TargetMode="Externa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98.xml"/><Relationship Id="rId7" Type="http://schemas.openxmlformats.org/officeDocument/2006/relationships/image" Target="file:///C:\Users\Administrator\Desktop\&#32032;&#26448;&#20998;&#31867;\&#21307;&#30103;&#32032;&#26448;\&#20027;&#39064;\&#22270;&#29255;9.png" TargetMode="External"/><Relationship Id="rId6" Type="http://schemas.openxmlformats.org/officeDocument/2006/relationships/image" Target="../media/image2.png"/><Relationship Id="rId5" Type="http://schemas.openxmlformats.org/officeDocument/2006/relationships/tags" Target="../tags/tag197.xml"/><Relationship Id="rId4" Type="http://schemas.openxmlformats.org/officeDocument/2006/relationships/image" Target="file:///F:\Lets_Create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96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tags" Target="../tags/tag199.xml"/><Relationship Id="rId10" Type="http://schemas.openxmlformats.org/officeDocument/2006/relationships/image" Target="file:///F:\Lets_Create/pic_temp/0_pic_quater_right_up.png" TargetMode="Externa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image" Target="file:///F:\Lets_Create/pic_temp/1_pic_quater_left_down.png" TargetMode="External"/><Relationship Id="rId6" Type="http://schemas.openxmlformats.org/officeDocument/2006/relationships/image" Target="../media/image10.png"/><Relationship Id="rId5" Type="http://schemas.openxmlformats.org/officeDocument/2006/relationships/tags" Target="../tags/tag204.xml"/><Relationship Id="rId4" Type="http://schemas.openxmlformats.org/officeDocument/2006/relationships/image" Target="file:///F:\Lets_Create/pic_temp/0_pic_quater_right_up.png" TargetMode="External"/><Relationship Id="rId3" Type="http://schemas.openxmlformats.org/officeDocument/2006/relationships/image" Target="../media/image9.png"/><Relationship Id="rId2" Type="http://schemas.openxmlformats.org/officeDocument/2006/relationships/tags" Target="../tags/tag203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2.png"/><Relationship Id="rId6" Type="http://schemas.openxmlformats.org/officeDocument/2006/relationships/tags" Target="../tags/tag211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11.png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3.png"/><Relationship Id="rId6" Type="http://schemas.openxmlformats.org/officeDocument/2006/relationships/tags" Target="../tags/tag219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4.png"/><Relationship Id="rId6" Type="http://schemas.openxmlformats.org/officeDocument/2006/relationships/tags" Target="../tags/tag228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4" Type="http://schemas.openxmlformats.org/officeDocument/2006/relationships/tags" Target="../tags/tag234.xml"/><Relationship Id="rId13" Type="http://schemas.openxmlformats.org/officeDocument/2006/relationships/tags" Target="../tags/tag233.xml"/><Relationship Id="rId12" Type="http://schemas.openxmlformats.org/officeDocument/2006/relationships/tags" Target="../tags/tag232.xml"/><Relationship Id="rId11" Type="http://schemas.openxmlformats.org/officeDocument/2006/relationships/tags" Target="../tags/tag231.xml"/><Relationship Id="rId10" Type="http://schemas.openxmlformats.org/officeDocument/2006/relationships/tags" Target="../tags/tag230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4.png"/><Relationship Id="rId6" Type="http://schemas.openxmlformats.org/officeDocument/2006/relationships/tags" Target="../tags/tag237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9.png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4" Type="http://schemas.openxmlformats.org/officeDocument/2006/relationships/tags" Target="../tags/tag243.xml"/><Relationship Id="rId13" Type="http://schemas.openxmlformats.org/officeDocument/2006/relationships/tags" Target="../tags/tag242.xml"/><Relationship Id="rId12" Type="http://schemas.openxmlformats.org/officeDocument/2006/relationships/tags" Target="../tags/tag241.xml"/><Relationship Id="rId11" Type="http://schemas.openxmlformats.org/officeDocument/2006/relationships/tags" Target="../tags/tag240.xml"/><Relationship Id="rId10" Type="http://schemas.openxmlformats.org/officeDocument/2006/relationships/tags" Target="../tags/tag239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image" Target="file:///F:\Lets_Create/pic_temp/1_pic_quater_left_down.png" TargetMode="External"/><Relationship Id="rId7" Type="http://schemas.openxmlformats.org/officeDocument/2006/relationships/image" Target="../media/image14.png"/><Relationship Id="rId6" Type="http://schemas.openxmlformats.org/officeDocument/2006/relationships/tags" Target="../tags/tag246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15.png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6" Type="http://schemas.openxmlformats.org/officeDocument/2006/relationships/tags" Target="../tags/tag254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tags" Target="../tags/tag257.xml"/><Relationship Id="rId5" Type="http://schemas.openxmlformats.org/officeDocument/2006/relationships/image" Target="file:///F:\Lets_Create/pic_temp/0_pic_quater_right_up.png" TargetMode="External"/><Relationship Id="rId4" Type="http://schemas.openxmlformats.org/officeDocument/2006/relationships/image" Target="../media/image16.png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36" y="363347"/>
            <a:ext cx="6072189" cy="485876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105" y="0"/>
            <a:ext cx="1757588" cy="12350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5443826" y="4036700"/>
            <a:ext cx="5943289" cy="873490"/>
          </a:xfrm>
          <a:noFill/>
        </p:spPr>
        <p:txBody>
          <a:bodyPr lIns="90000" tIns="46800" rIns="90000" bIns="0" anchor="ctr" anchorCtr="0">
            <a:normAutofit/>
          </a:bodyPr>
          <a:lstStyle>
            <a:lvl1pPr algn="l">
              <a:defRPr sz="4800" i="1" spc="600" baseline="0">
                <a:gradFill>
                  <a:gsLst>
                    <a:gs pos="0">
                      <a:schemeClr val="bg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47" y="952648"/>
            <a:ext cx="10851672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541773" y="635"/>
            <a:ext cx="7108455" cy="6857365"/>
          </a:xfrm>
          <a:prstGeom prst="rect">
            <a:avLst/>
          </a:prstGeom>
          <a:solidFill>
            <a:schemeClr val="bg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106"/>
            <a:ext cx="2541415" cy="4063788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9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950" y="1397106"/>
            <a:ext cx="2541415" cy="406378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3910883" y="3182993"/>
            <a:ext cx="4379491" cy="721099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3600" u="none" strike="noStrike" kern="1200" cap="none" spc="300" normalizeH="0" baseline="0">
                <a:gradFill>
                  <a:gsLst>
                    <a:gs pos="0">
                      <a:schemeClr val="bg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3"/>
            </p:custDataLst>
          </p:nvPr>
        </p:nvSpPr>
        <p:spPr>
          <a:xfrm>
            <a:off x="3910883" y="3952423"/>
            <a:ext cx="4379491" cy="114460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gradFill>
                  <a:gsLst>
                    <a:gs pos="0">
                      <a:schemeClr val="bg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552" y="952648"/>
            <a:ext cx="5282967" cy="5388626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895" y="952518"/>
            <a:ext cx="5282967" cy="38098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890" y="1406654"/>
            <a:ext cx="5282925" cy="493449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952518"/>
            <a:ext cx="5282967" cy="38098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406654"/>
            <a:ext cx="5282967" cy="493449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1365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3810" y="1815231"/>
            <a:ext cx="12187555" cy="3227537"/>
          </a:xfrm>
          <a:prstGeom prst="rect">
            <a:avLst/>
          </a:prstGeom>
          <a:solidFill>
            <a:schemeClr val="bg2">
              <a:lumMod val="40000"/>
              <a:lumOff val="6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995" tIns="46797" rIns="89995" bIns="46797" rtlCol="0" anchor="ctr">
            <a:normAutofit/>
          </a:bodyPr>
          <a:lstStyle/>
          <a:p>
            <a:pPr algn="ctr"/>
            <a:endParaRPr lang="zh-CN" altLang="en-US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788" y="5235039"/>
            <a:ext cx="4063788" cy="1622961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9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788" y="0"/>
            <a:ext cx="4063788" cy="162296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47" y="443242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95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600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0584" y="952648"/>
            <a:ext cx="950934" cy="538862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all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890" y="952640"/>
            <a:ext cx="9827589" cy="5388626"/>
          </a:xfrm>
        </p:spPr>
        <p:txBody>
          <a:bodyPr vert="eaVert" lIns="90000" tIns="46800" rIns="90000" bIns="46800">
            <a:normAutofit/>
          </a:bodyPr>
          <a:lstStyle>
            <a:lvl1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895" y="952648"/>
            <a:ext cx="10851672" cy="5388626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844" y="1235890"/>
            <a:ext cx="5486114" cy="438622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42" y="2482257"/>
            <a:ext cx="2181111" cy="16090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43522" y="2220754"/>
            <a:ext cx="6230164" cy="1795653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vert="horz" lIns="90000" tIns="46800" rIns="9000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1" u="none" strike="noStrike" kern="1200" cap="none" spc="600" normalizeH="0" baseline="0" noProof="1" dirty="0">
                <a:gradFill>
                  <a:gsLst>
                    <a:gs pos="0">
                      <a:schemeClr val="bg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47" y="443242"/>
            <a:ext cx="10851672" cy="441941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/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995" tIns="46797" rIns="89995" bIns="46797" rtlCol="0" anchor="ctr">
            <a:normAutofit/>
          </a:bodyPr>
          <a:lstStyle/>
          <a:p>
            <a:pPr algn="ctr"/>
            <a:endParaRPr lang="zh-CN" altLang="en-US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69" y="0"/>
            <a:ext cx="1685202" cy="1249045"/>
          </a:xfrm>
          <a:prstGeom prst="rect">
            <a:avLst/>
          </a:prstGeom>
        </p:spPr>
      </p:pic>
      <p:pic>
        <p:nvPicPr>
          <p:cNvPr id="13" name="图片 12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215" y="5309908"/>
            <a:ext cx="1762033" cy="1462329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1281046" y="2163690"/>
            <a:ext cx="9626099" cy="3445021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1281533" y="1249219"/>
            <a:ext cx="9625899" cy="723562"/>
          </a:xfrm>
        </p:spPr>
        <p:txBody>
          <a:bodyPr lIns="90000" tIns="46800" rIns="90000" bIns="46800"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209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baseline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753" y="37465"/>
            <a:ext cx="1142940" cy="885825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" y="5632450"/>
            <a:ext cx="1447725" cy="12255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170" y="770423"/>
            <a:ext cx="3959794" cy="881954"/>
          </a:xfrm>
        </p:spPr>
        <p:txBody>
          <a:bodyPr wrap="square" lIns="90000" tIns="46800" rIns="90000" bIns="46800"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769" y="1764107"/>
            <a:ext cx="3956194" cy="4092987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0934" y="770070"/>
            <a:ext cx="6479663" cy="5087672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cap="all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2940" cy="885825"/>
          </a:xfrm>
          <a:prstGeom prst="rect">
            <a:avLst/>
          </a:prstGeom>
        </p:spPr>
      </p:pic>
      <p:pic>
        <p:nvPicPr>
          <p:cNvPr id="13" name="图片 12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24" y="0"/>
            <a:ext cx="1142940" cy="958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1968" y="781216"/>
            <a:ext cx="10975828" cy="626367"/>
          </a:xfrm>
        </p:spPr>
        <p:txBody>
          <a:bodyPr wrap="square" lIns="90000" tIns="46800" rIns="90000" bIns="46800" anchor="ctr">
            <a:normAutofit/>
          </a:bodyPr>
          <a:lstStyle>
            <a:lvl1pPr algn="ctr">
              <a:defRPr sz="3400"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1968" y="1659622"/>
            <a:ext cx="10975403" cy="827957"/>
          </a:xfrm>
        </p:spPr>
        <p:txBody>
          <a:bodyPr wrap="square" lIns="90000" tIns="46800" rIns="90000" bIns="46800">
            <a:normAutofit/>
          </a:bodyPr>
          <a:lstStyle>
            <a:lvl1pPr algn="ctr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43" y="2808089"/>
            <a:ext cx="10965029" cy="3430621"/>
          </a:xfrm>
        </p:spPr>
        <p:txBody>
          <a:bodyPr wrap="square"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136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2940" cy="885825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24" y="0"/>
            <a:ext cx="1142940" cy="958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768" y="669615"/>
            <a:ext cx="10975828" cy="565171"/>
          </a:xfrm>
        </p:spPr>
        <p:txBody>
          <a:bodyPr wrap="square" lIns="90000" tIns="46800" rIns="90000" bIns="46800" anchor="ctr">
            <a:normAutofit/>
          </a:bodyPr>
          <a:lstStyle>
            <a:lvl1pPr algn="ctr">
              <a:defRPr sz="3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05" y="1681284"/>
            <a:ext cx="10990227" cy="3211033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3969" y="5180426"/>
            <a:ext cx="11001027" cy="1011547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596" y="0"/>
            <a:ext cx="1179769" cy="914400"/>
          </a:xfrm>
          <a:prstGeom prst="rect">
            <a:avLst/>
          </a:prstGeom>
        </p:spPr>
      </p:pic>
      <p:pic>
        <p:nvPicPr>
          <p:cNvPr id="15" name="图片 14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813450"/>
            <a:ext cx="1142940" cy="958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570" y="237612"/>
            <a:ext cx="11037025" cy="441941"/>
          </a:xfrm>
        </p:spPr>
        <p:txBody>
          <a:bodyPr wrap="square" lIns="90000" tIns="46800" rIns="90000" bIns="46800">
            <a:normAutofit/>
          </a:bodyPr>
          <a:lstStyle>
            <a:lvl1pPr>
              <a:defRPr sz="2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570" y="1663275"/>
            <a:ext cx="5342122" cy="2894249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075" y="1663275"/>
            <a:ext cx="5367320" cy="2894249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370" y="4816820"/>
            <a:ext cx="5342122" cy="781159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2874" y="4813220"/>
            <a:ext cx="5367320" cy="781159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353"/>
            <a:ext cx="12191365" cy="493929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53"/>
            <a:ext cx="2633843" cy="203379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57522" y="1371653"/>
            <a:ext cx="2633843" cy="20337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721" y="1339262"/>
            <a:ext cx="9143524" cy="2386676"/>
          </a:xfrm>
        </p:spPr>
        <p:txBody>
          <a:bodyPr wrap="square" lIns="90000" tIns="46800" rIns="90000" bIns="46800"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334" y="3862843"/>
            <a:ext cx="9143524" cy="1655914"/>
          </a:xfrm>
        </p:spPr>
        <p:txBody>
          <a:bodyPr wrap="square" lIns="90000" tIns="46800" rIns="90000" bIns="46800">
            <a:normAutofit/>
          </a:bodyPr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36" y="363347"/>
            <a:ext cx="6072189" cy="4858767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105" y="0"/>
            <a:ext cx="1757588" cy="12350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5443826" y="4036700"/>
            <a:ext cx="5943289" cy="873490"/>
          </a:xfrm>
          <a:noFill/>
        </p:spPr>
        <p:txBody>
          <a:bodyPr lIns="90000" tIns="46800" rIns="90000" bIns="0" anchor="ctr" anchorCtr="0">
            <a:normAutofit/>
          </a:bodyPr>
          <a:lstStyle>
            <a:lvl1pPr algn="l">
              <a:defRPr sz="4800" i="1" spc="600" baseline="0">
                <a:gradFill>
                  <a:gsLst>
                    <a:gs pos="0">
                      <a:schemeClr val="bg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47" y="952648"/>
            <a:ext cx="10851672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541773" y="635"/>
            <a:ext cx="7108455" cy="6857365"/>
          </a:xfrm>
          <a:prstGeom prst="rect">
            <a:avLst/>
          </a:prstGeom>
          <a:solidFill>
            <a:schemeClr val="bg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/>
          <p:nvPr userDrawn="1"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106"/>
            <a:ext cx="2541415" cy="4063788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9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950" y="1397106"/>
            <a:ext cx="2541415" cy="406378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3910883" y="3182993"/>
            <a:ext cx="4379491" cy="721099"/>
          </a:xfrm>
        </p:spPr>
        <p:txBody>
          <a:bodyPr lIns="90000" tIns="46800" rIns="90000" bIns="46800" anchor="ctr" anchorCtr="0">
            <a:normAutofit/>
          </a:bodyPr>
          <a:lstStyle>
            <a:lvl1pPr algn="ctr">
              <a:defRPr sz="3600" u="none" strike="noStrike" kern="1200" cap="none" spc="300" normalizeH="0" baseline="0">
                <a:gradFill>
                  <a:gsLst>
                    <a:gs pos="0">
                      <a:schemeClr val="bg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3"/>
            </p:custDataLst>
          </p:nvPr>
        </p:nvSpPr>
        <p:spPr>
          <a:xfrm>
            <a:off x="3910883" y="3952423"/>
            <a:ext cx="4379491" cy="114460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gradFill>
                  <a:gsLst>
                    <a:gs pos="0">
                      <a:schemeClr val="bg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552" y="952648"/>
            <a:ext cx="5282967" cy="5388626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47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895" y="952518"/>
            <a:ext cx="5282967" cy="38098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890" y="1406654"/>
            <a:ext cx="5282925" cy="493449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425" y="952518"/>
            <a:ext cx="5282967" cy="38098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425" y="1406654"/>
            <a:ext cx="5282967" cy="493449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1365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3810" y="1815231"/>
            <a:ext cx="12187555" cy="3227537"/>
          </a:xfrm>
          <a:prstGeom prst="rect">
            <a:avLst/>
          </a:prstGeom>
          <a:solidFill>
            <a:schemeClr val="bg2">
              <a:lumMod val="40000"/>
              <a:lumOff val="6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995" tIns="46797" rIns="89995" bIns="46797" rtlCol="0" anchor="ctr">
            <a:normAutofit/>
          </a:bodyPr>
          <a:lstStyle/>
          <a:p>
            <a:pPr algn="ctr"/>
            <a:endParaRPr lang="zh-CN" altLang="en-US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788" y="5235039"/>
            <a:ext cx="4063788" cy="1622961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9"/>
            </p:custDataLst>
          </p:nvPr>
        </p:nvPicPr>
        <p:blipFill>
          <a:blip r:embed="rId10" r:link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788" y="0"/>
            <a:ext cx="4063788" cy="162296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47" y="443242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95" y="443246"/>
            <a:ext cx="10851672" cy="44194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895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600" y="952648"/>
            <a:ext cx="5282967" cy="5388626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0584" y="952648"/>
            <a:ext cx="950934" cy="538862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all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890" y="952640"/>
            <a:ext cx="9827589" cy="5388626"/>
          </a:xfrm>
        </p:spPr>
        <p:txBody>
          <a:bodyPr vert="eaVert" lIns="90000" tIns="46800" rIns="90000" bIns="46800">
            <a:normAutofit/>
          </a:bodyPr>
          <a:lstStyle>
            <a:lvl1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895" y="952648"/>
            <a:ext cx="10851672" cy="5388626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844" y="1235890"/>
            <a:ext cx="5486114" cy="438622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8"/>
            </p:custDataLst>
          </p:nvPr>
        </p:nvPicPr>
        <p:blipFill>
          <a:blip r:embed="rId9" r:link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42" y="2482257"/>
            <a:ext cx="2181111" cy="16090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43522" y="2220754"/>
            <a:ext cx="6230164" cy="1795653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txBody>
          <a:bodyPr vert="horz" lIns="90000" tIns="46800" rIns="9000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6600" b="1" i="1" u="none" strike="noStrike" kern="1200" cap="none" spc="600" normalizeH="0" baseline="0" noProof="1" dirty="0">
                <a:gradFill>
                  <a:gsLst>
                    <a:gs pos="0">
                      <a:schemeClr val="bg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47" y="443242"/>
            <a:ext cx="10851672" cy="441941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626" y="6349833"/>
            <a:ext cx="2700000" cy="316800"/>
          </a:xfrm>
        </p:spPr>
        <p:txBody>
          <a:bodyPr/>
          <a:lstStyle>
            <a:lvl1pPr>
              <a:defRPr baseline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682" y="6349833"/>
            <a:ext cx="3960000" cy="316800"/>
          </a:xfrm>
        </p:spPr>
        <p:txBody>
          <a:bodyPr/>
          <a:lstStyle>
            <a:lvl1pPr>
              <a:defRPr baseline="0"/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081" y="6349833"/>
            <a:ext cx="2700000" cy="316800"/>
          </a:xfrm>
        </p:spPr>
        <p:txBody>
          <a:bodyPr/>
          <a:lstStyle>
            <a:lvl1pPr>
              <a:defRPr baseline="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85" y="304200"/>
            <a:ext cx="11605795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995" tIns="46797" rIns="89995" bIns="46797" rtlCol="0" anchor="ctr">
            <a:normAutofit/>
          </a:bodyPr>
          <a:lstStyle/>
          <a:p>
            <a:pPr algn="ctr"/>
            <a:endParaRPr lang="zh-CN" altLang="en-US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69" y="0"/>
            <a:ext cx="1685202" cy="1249045"/>
          </a:xfrm>
          <a:prstGeom prst="rect">
            <a:avLst/>
          </a:prstGeom>
        </p:spPr>
      </p:pic>
      <p:pic>
        <p:nvPicPr>
          <p:cNvPr id="13" name="图片 12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215" y="5309908"/>
            <a:ext cx="1762033" cy="1462329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1281046" y="2163690"/>
            <a:ext cx="9626099" cy="3445021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5682" y="6349833"/>
            <a:ext cx="396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879626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1281533" y="1249219"/>
            <a:ext cx="9625899" cy="723562"/>
          </a:xfrm>
        </p:spPr>
        <p:txBody>
          <a:bodyPr lIns="90000" tIns="46800" rIns="90000" bIns="46800"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209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baseline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753" y="37465"/>
            <a:ext cx="1142940" cy="885825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" y="5632450"/>
            <a:ext cx="1447725" cy="12255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170" y="770423"/>
            <a:ext cx="3959794" cy="881954"/>
          </a:xfrm>
        </p:spPr>
        <p:txBody>
          <a:bodyPr wrap="square" lIns="90000" tIns="46800" rIns="90000" bIns="46800"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586769" y="1764107"/>
            <a:ext cx="3956194" cy="4092987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5100934" y="770070"/>
            <a:ext cx="6479663" cy="5087672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cap="all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2940" cy="885825"/>
          </a:xfrm>
          <a:prstGeom prst="rect">
            <a:avLst/>
          </a:prstGeom>
        </p:spPr>
      </p:pic>
      <p:pic>
        <p:nvPicPr>
          <p:cNvPr id="13" name="图片 12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24" y="0"/>
            <a:ext cx="1142940" cy="958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1968" y="781216"/>
            <a:ext cx="10975828" cy="626367"/>
          </a:xfrm>
        </p:spPr>
        <p:txBody>
          <a:bodyPr wrap="square" lIns="90000" tIns="46800" rIns="90000" bIns="46800" anchor="ctr">
            <a:normAutofit/>
          </a:bodyPr>
          <a:lstStyle>
            <a:lvl1pPr algn="ctr">
              <a:defRPr sz="3400"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1968" y="1659622"/>
            <a:ext cx="10975403" cy="827957"/>
          </a:xfrm>
        </p:spPr>
        <p:txBody>
          <a:bodyPr wrap="square" lIns="90000" tIns="46800" rIns="90000" bIns="46800">
            <a:normAutofit/>
          </a:bodyPr>
          <a:lstStyle>
            <a:lvl1pPr algn="ctr"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43" y="2808089"/>
            <a:ext cx="10965029" cy="3430621"/>
          </a:xfrm>
        </p:spPr>
        <p:txBody>
          <a:bodyPr wrap="square" lIns="90000" tIns="46800" rIns="90000" bIns="46800">
            <a:normAutofit/>
          </a:bodyPr>
          <a:lstStyle>
            <a:lvl1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cap="all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136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42940" cy="885825"/>
          </a:xfrm>
          <a:prstGeom prst="rect">
            <a:avLst/>
          </a:prstGeom>
        </p:spPr>
      </p:pic>
      <p:pic>
        <p:nvPicPr>
          <p:cNvPr id="12" name="图片 11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24" y="0"/>
            <a:ext cx="1142940" cy="958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768" y="669615"/>
            <a:ext cx="10975828" cy="565171"/>
          </a:xfrm>
        </p:spPr>
        <p:txBody>
          <a:bodyPr wrap="square" lIns="90000" tIns="46800" rIns="90000" bIns="46800" anchor="ctr">
            <a:normAutofit/>
          </a:bodyPr>
          <a:lstStyle>
            <a:lvl1pPr algn="ctr">
              <a:defRPr sz="3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05" y="1681284"/>
            <a:ext cx="10990227" cy="3211033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3969" y="5180426"/>
            <a:ext cx="11001027" cy="1011547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1365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596" y="0"/>
            <a:ext cx="1179769" cy="914400"/>
          </a:xfrm>
          <a:prstGeom prst="rect">
            <a:avLst/>
          </a:prstGeom>
        </p:spPr>
      </p:pic>
      <p:pic>
        <p:nvPicPr>
          <p:cNvPr id="15" name="图片 14"/>
          <p:cNvPicPr/>
          <p:nvPr userDrawn="1"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813450"/>
            <a:ext cx="1142940" cy="958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570" y="237612"/>
            <a:ext cx="11037025" cy="441941"/>
          </a:xfrm>
        </p:spPr>
        <p:txBody>
          <a:bodyPr wrap="square" lIns="90000" tIns="46800" rIns="90000" bIns="46800">
            <a:normAutofit/>
          </a:bodyPr>
          <a:lstStyle>
            <a:lvl1pPr>
              <a:defRPr sz="2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570" y="1663275"/>
            <a:ext cx="5342122" cy="2894249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075" y="1663275"/>
            <a:ext cx="5367320" cy="2894249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370" y="4816820"/>
            <a:ext cx="5342122" cy="781159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2874" y="4813220"/>
            <a:ext cx="5367320" cy="781159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353"/>
            <a:ext cx="12191365" cy="493929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995" tIns="46797" rIns="89995" bIns="46797" rtlCol="0" anchor="ctr">
            <a:normAutofit/>
          </a:bodyPr>
          <a:lstStyle/>
          <a:p>
            <a:pPr lvl="0" algn="ctr"/>
            <a:endParaRPr lang="en-US" altLang="zh-CN" baseline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53"/>
            <a:ext cx="2633843" cy="203379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6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57522" y="1371653"/>
            <a:ext cx="2633843" cy="20337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721" y="1339262"/>
            <a:ext cx="9143524" cy="2386676"/>
          </a:xfrm>
        </p:spPr>
        <p:txBody>
          <a:bodyPr wrap="square" lIns="90000" tIns="46800" rIns="90000" bIns="46800"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626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5682" y="6349833"/>
            <a:ext cx="396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081" y="6349833"/>
            <a:ext cx="2700000" cy="316800"/>
          </a:xfrm>
        </p:spPr>
        <p:txBody>
          <a:bodyPr wrap="square" lIns="90000" tIns="46800" rIns="90000" bIns="4680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334" y="3862843"/>
            <a:ext cx="9143524" cy="1655914"/>
          </a:xfrm>
        </p:spPr>
        <p:txBody>
          <a:bodyPr wrap="square" lIns="90000" tIns="46800" rIns="90000" bIns="46800">
            <a:normAutofit/>
          </a:bodyPr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34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9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24" Type="http://schemas.openxmlformats.org/officeDocument/2006/relationships/tags" Target="../tags/tag268.xml"/><Relationship Id="rId23" Type="http://schemas.openxmlformats.org/officeDocument/2006/relationships/tags" Target="../tags/tag267.xml"/><Relationship Id="rId22" Type="http://schemas.openxmlformats.org/officeDocument/2006/relationships/tags" Target="../tags/tag266.xml"/><Relationship Id="rId21" Type="http://schemas.openxmlformats.org/officeDocument/2006/relationships/tags" Target="../tags/tag265.xml"/><Relationship Id="rId20" Type="http://schemas.openxmlformats.org/officeDocument/2006/relationships/tags" Target="../tags/tag264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263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47" y="443386"/>
            <a:ext cx="10851672" cy="441941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47" y="952637"/>
            <a:ext cx="10851672" cy="538862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696" y="6349681"/>
            <a:ext cx="2699859" cy="316784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5786" y="6349681"/>
            <a:ext cx="3959794" cy="316784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152" y="6349681"/>
            <a:ext cx="2699859" cy="316784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47" y="443386"/>
            <a:ext cx="10851672" cy="441941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47" y="952637"/>
            <a:ext cx="10851672" cy="538862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696" y="6349681"/>
            <a:ext cx="2699859" cy="316784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5786" y="6349681"/>
            <a:ext cx="3959794" cy="316784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152" y="6349681"/>
            <a:ext cx="2699859" cy="316784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defRPr sz="12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70.xml"/><Relationship Id="rId1" Type="http://schemas.openxmlformats.org/officeDocument/2006/relationships/tags" Target="../tags/tag26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73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72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7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76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75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7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79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78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7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82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81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8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85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84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8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88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87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8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91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90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8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94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93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9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297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96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9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00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299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29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03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02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0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06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05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0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09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08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0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12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11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1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15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14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18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17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1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21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20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24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23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2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27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26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30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29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2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33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32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338.xml"/><Relationship Id="rId6" Type="http://schemas.openxmlformats.org/officeDocument/2006/relationships/image" Target="file:///F:\Lets_Create/pic_temp/1_pic_quater_left_down.png" TargetMode="External"/><Relationship Id="rId5" Type="http://schemas.openxmlformats.org/officeDocument/2006/relationships/image" Target="../media/image10.png"/><Relationship Id="rId4" Type="http://schemas.openxmlformats.org/officeDocument/2006/relationships/tags" Target="../tags/tag337.xml"/><Relationship Id="rId3" Type="http://schemas.openxmlformats.org/officeDocument/2006/relationships/image" Target="file:///F:\Lets_Create/pic_temp/0_pic_quater_right_up.png" TargetMode="External"/><Relationship Id="rId2" Type="http://schemas.openxmlformats.org/officeDocument/2006/relationships/image" Target="../media/image9.png"/><Relationship Id="rId1" Type="http://schemas.openxmlformats.org/officeDocument/2006/relationships/tags" Target="../tags/tag3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474306" y="2480315"/>
            <a:ext cx="5943289" cy="873490"/>
          </a:xfrm>
        </p:spPr>
        <p:txBody>
          <a:bodyPr>
            <a:no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200">
                <a:ln>
                  <a:noFill/>
                </a:ln>
                <a:gradFill>
                  <a:gsLst>
                    <a:gs pos="0">
                      <a:schemeClr val="lt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基于 RGB-D 实时重建与 Web AR 的</a:t>
            </a:r>
            <a:br>
              <a:rPr sz="3200">
                <a:ln>
                  <a:noFill/>
                </a:ln>
                <a:gradFill>
                  <a:gsLst>
                    <a:gs pos="0">
                      <a:schemeClr val="lt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</a:br>
            <a:r>
              <a:rPr sz="3200">
                <a:ln>
                  <a:noFill/>
                </a:ln>
                <a:gradFill>
                  <a:gsLst>
                    <a:gs pos="0">
                      <a:schemeClr val="lt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沉浸式空间数字孪生系统</a:t>
            </a:r>
            <a:endParaRPr sz="3200">
              <a:ln>
                <a:noFill/>
              </a:ln>
              <a:gradFill>
                <a:gsLst>
                  <a:gs pos="0">
                    <a:schemeClr val="lt1"/>
                  </a:gs>
                  <a:gs pos="98000">
                    <a:schemeClr val="accent1">
                      <a:lumMod val="40000"/>
                      <a:lumOff val="60000"/>
                    </a:schemeClr>
                  </a:gs>
                </a:gsLst>
                <a:lin ang="21594000" scaled="0"/>
              </a:gra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一、研究背景与问题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室内空间数字化需求：扫描 → 三维模型 → 在 Web/AR 中漫游与编辑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传统离线摄影测量流程长，难以与交互式 MR/AR 应用实时联动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深度相机（Orbbec）可获取 RGB-D，但存在噪声、空洞、快速运动丢跟踪等问题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本课题目标：端到端实时 RGB-D 融合建图 + 网格后处理 + 语义分区换材质 + Django/Three.js 展示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二、项目总体目标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硬件层：Orbbec 深度相机 + 串口 IMU（0x7E0x23 协议帧）采集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算法层：GPU/CPU 位姿跟踪 + Open3D TSDF 体积融合 + 网格抽取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工程层：Center_pipeline 统一总控，串联 Meshfix 与 Material 后处理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应用层：Django REST + Three.js/WebXR 风格沉浸页，模型锚定在 reconstruction_world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三、系统总体架构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五层流水线：采集(PCAC) → 建图(Pointcloud2mesh) → 总控(Center) → 修复(Meshfix) → 材质(Material)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 ARproject 通过 center_bridge 与 Center_pipeline 进程内桥接（同 Python 进程）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数据产物：白模 OBJ/PLY、Meshfix refined OBJ、Material 分区 GLB 场景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坐标统一：reconstruction_world；位姿接口 world_to_camera / camera_to_world / imu_to_world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四、技术路线（端到端）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UnifiedDepthScanner 采集：引导滤波 + 小空洞 NN 填充 + 深度修补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InputAdapter → TrackingWorker：帧队列、最新帧槽，异步位姿估计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MappingWorker：TSDF integrate，按 tracking 外参写入体素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RenderWorker：可选 Open3D 窗口预览；Center 侧内存 mesh 版本化导出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ModelProcessingWorker：白模变化触发 Meshfix slim 优化 → Material 几何拆分 → GLB 发布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前端轮询 /api/center/pose-latest/、latest-mesh/、material/* 驱动 Three.js 相机与场景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五、技术栈总览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语言：Python 3.12（Center/建图）、JavaScript（Three.js 前端）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后端：Django、Django Channels（WebSocket 手势中继）、SQLite/用户态 JSON 位面数据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视觉/几何：Open3D（TSDF、ICP、mesh IO）、OpenCV、NumPy、SciPy（cKDTree、ndimage）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GPU：Open3D Tensor/CUDA（GpuICPTracker）、可选 CPU RGBD Odometry 回退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网格：trimesh、PIL；材质引擎自研 MRMaterialEngine + MaterialEngineAdapter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设备：Orbbec SDK（orbbec_sdk.py）、串口 IMU（serial_provider / world_initializer）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前端：Three.js、WebSocket、Fetch API、GLTFLoader 加载 center 材质 GLB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六、目录与模块职责（ALL/）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PCAC/：深度扫描统一入口 UnifiedDepthScanner、OrbbecCameraSDK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Pointcloud2mesh/：RealtimeMappingPipeline、config、tracking/mapping/rendering workers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Center_pipeline.py：单例 CenterPipelineService、恢复状态机、IMU-only 模式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Meshfix/：mesh_refine_adapter_slim、在线/refined 网格优化 preset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Material/：MRMaterialEngine 墙/门/地/顶分区、换材质、scene GLB 输出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ARproject/：Django 门户、realm 沉浸、center-realtime-mesh、realm-imu-tracker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openni_process_runtime.py / imu_monitor.py：运行时与 IMU 调试辅助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七、PCAC 深度采集层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OrbbecCameraSDK 封装设备打开、流同步、默认 SDK 路径解析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guided_filter：以彩色图为引导保边平滑深度，参数 r/eps 控制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nearest_neighbor_fill + 小连通域空洞填充，大空洞保持 0 避免边缘污染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UnifiedDepthScanner 输出对齐的 color/depth/mask，供 InputAdapter 或外部 submit_rgbd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main_pipeline 集成：input_mode="scanner" 时由后台线程持续喂帧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八、Pointcloud2mesh 管线结构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核心类：RealtimeMappingPipeline（pipeline_api.py），配置 PipelineConfig（config.py dataclass）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线程模型：TrackingWorker + MappingWorker + RenderWorker，BoundedDropQueue / LatestFrameSlot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SharedState 跨模块共享最新 tracking、map snapshot、mesh、位姿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API：start_background / start_external、submit_frame、reset_reconstruction、get_status 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legacy main_pipeline_legecy.py 展示完整 worker 组装；生产入口 main_pipeline → pipeline_api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九、Tracking 位姿估计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双后端：tracking_backend = "gpu_icp"（默认）| "cpu_rgbd"（Open3D legacy odometry）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GpuICPTracker：CUDA 点云 voxel 下采样、法线估计、point-to-plane ICP，fitness/RMSE 门限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运动约束：max_rotation_deg_per_frame、旋转主导时限制平移，抑制纯旋转伪位移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LocalMap：frame-to-model / local map ICP，丢失后冷却与宽松恢复参数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跟踪结果 observer → Center 恢复状态机（consecutive_lost_frames / success_frames）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十、Mapping TSDF 融合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Mapper 使用 Open3D ScalableTSDFVolume（体素、截断距离可配）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MappingConfig：voxel_size、sdf_trunc、max_depth、integrate 频率与有效深度范围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外参：integrate 使用 world_to_camera；输出 mesh 可应用 R_output 修正仅影响导出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reset_reconstruction：清空 volume、local_map、tracker pose、队列，支持保存后重置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最新 mesh：pipeline.get_latest_mesh() / extract_triangle_mesh() 供 Center 白模导出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十一、IMU 与世界坐标 initialization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 职责：首帧 reconstruction_world 初始化，不参与后续每帧 tracking（config 明确）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串口：COM 口、115200、0x7E 0x23 帧；IMUWorldInitializer + build_imu_world_initializer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外参 R_cam_imu、R_reconstruction_imu_world；模式 imu_absolute_world / align_initial_camera_to_forward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 IMU-only：start_imu_pipeline 仅位姿流，不打开深度相机（AR/VR 漫游）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 realm-imu-tracker.js：轮询 pose-latest，NumPy 行主序 4×4 转置写入 Three.Matrix4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十二、Center_pipeline 总控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CenterPipelineService 单例：start_pipeline / stop_pipeline / get_pipeline_status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白模：export_white_mesh → Pointcloud2mesh/model/，版本号 white_version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ModelProcessingWorker：mesh 顶点/三角变化 + 最小间隔触发 Meshfix → Material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材质 API：get_material_targets、change_material(segment_key, material_id)、scene/segment GLB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事件：get_event_subscriber 供后台推送；推荐视距 recommended_view_distance 由 mesh AABB 估算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十三、Meshfix 网格优化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mesh_refine_adapter_slim.refine_mesh_in_memory：内存 Open3D mesh → 优化后 mesh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 调用 preset="fast"、distance strategy、可禁用 early hole fill / gap stitch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输出：Meshfix/outputs_realtime/refined_vXXXX.obj、refined_latest.obj、meta JSON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Material 衔接：refined mesh 转 trimesh 后送入 MRMaterialEngine 几何解析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十四、Material 材质引擎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MRMaterialEngine：load_from_mesh → 墙/门/地板/天花/其他 语义分段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墙面 dominant normal、门洞提取与墙体清理；材质库 material_library 管理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change_material 更新 segment 纹理/平铺；输出 Material/outputs/ 下 GLB scene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Django：/api/center/material/scene.glb、segment/&lt;key&gt;/ 下载；change POST JSON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十五、ARproject Web 应用层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Django 模板：portal、realm 沉浸、market、training、user_center、depth-scan tester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center_bridge.py：sys.path 注入 ALL，import Center_pipeline，同源 API 封装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 JS：realm-main.js(Three)、center-realtime-mesh.js(实时白模)、realm-imu-tracker.js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gesture.js：MediaPipe/手势 + WebSocket 中继；realm-stereo.js 立体模式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Reality Override：Web 模拟扫描 JSON + /api/depth-scan/import/ 深度导入双通路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十六、Center HTTP API（Django）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/api/center/start/ — 完整扫描建图（深度 + TSDF）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/api/center/start-imu/ | stop-imu/ — 仅 IMU 位姿（进入 AR/VR 自动调用）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/api/center/status/ — 含 center_recovery_state、tracking/mapping/capture 开关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 /api/center/resume/、reset-reconstruction/ — 丢跟踪恢复与重建清零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pose-latest/、latest-mesh/、material/targets|library|status|scene-latest/、change/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十七、坐标系与 AR 对齐原则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reconstruction_world：白模、pose、前端模型节点均在此坐标系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错误做法：把模型 parent 到相机前方随动；正确：模型固定世界，更新虚拟 camera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get_pose_latest 返回 imu_to_world、camera_to_world（与 TSDF 外参一致）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Three.js：API 4×4 行主序 → Matrix4.set 需列主序转置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十八、容错与恢复机制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状态机：normal → hard_paused_lost（连续跟踪失败 ≥ CLF 阈值）→ recovering → normal / recovery_failed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环境变量：CENTER_PAUSE_CLF_THRESHOLD(30)、CENTER_FAIL_AFTER_RESUME_CLF(200)、CENTER_RECOVER_SUCCESS_FRAMES(5)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hard_paused 时 gate 关闭 tracking/mapping 写入；resume 清零计数重新接入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reset_reconstruction：清空体积并重启 worker，成功后恢复 normal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开发建议：runserver --noreload 单进程，避免 Django 重载导致 Center 实例丢失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十九、关键配置与调参入口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Pointcloud2mesh/config.py：CameraIntrinsics、InputConfig、TrackingConfig、MappingConfig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tracking_backend 切换 gpu_icp / cpu_rgbd；depth_trunc、voxel_size、ICP 距离阈值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IMUConfig：serial_port、initial_alignment_mode、required 严格模式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 侧 ModelProcessingWorker：min_interval_sec、max_mesh_triangles、material_change_threshold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二十、输出目录与测试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白模：Pointcloud2mesh/model/（如 fusion_model_final.obj）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Meshfix：Meshfix/outputs_realtime/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Material：Material/outputs/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接口测试：python test_center_api.py [--no-pause] [--skip-start]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Center_API说明.md：Django JsonResponse / FileResponse 示例（本 PPT 未引用 ARproject 内 md）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二十一、技术特色与创新点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模块化多 Worker 实时管线，LatestFrameSlot 降低延迟、BoundedDropQueue 防积压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Tensor ICP + 旋转主导平移约束 + LocalMap 重定位，适配手持扫描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Center 层统一恢复状态机与 IMU-only / 全管线双模式，一套 API 服务 Web AR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建图—修复—材质 自动级联，前端 GLB 分区换材质无需离线 Blender 流程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Django 与算法同进程内存 mesh 零拷贝路径（latest-mesh 版本签名）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</a:rPr>
              <a:t>已完成：RGB-D 实时 TSDF、Center 总控、Meshfix/Material 后处理、Web 沉浸与 API 闭环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</a:rPr>
              <a:t>可扩展：多房间语义 SLAM、云端协同、WebRTC 流式 mesh、更精细 PBR 材质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</a:rPr>
              <a:t>部署注意：CUDA/Open3D 版本、相机独占、Python 3.12 与 Django 单进程调试</a:t>
            </a:r>
            <a:endParaRPr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  <a:defRPr sz="18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</a:rPr>
              <a:t>感谢各位老师聆听，欢迎提问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43360" y="2220707"/>
            <a:ext cx="6230489" cy="1795747"/>
          </a:xfrm>
        </p:spPr>
        <p:txBody>
          <a:bodyPr>
            <a:normAutofit fontScale="90000"/>
          </a:bodyPr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6600">
                <a:gradFill>
                  <a:gsLst>
                    <a:gs pos="0">
                      <a:schemeClr val="lt1"/>
                    </a:gs>
                    <a:gs pos="98000">
                      <a:schemeClr val="accent1">
                        <a:lumMod val="40000"/>
                        <a:lumOff val="60000"/>
                      </a:schemeClr>
                    </a:gs>
                  </a:gsLst>
                  <a:lin ang="21594000" scaled="0"/>
                </a:gradFill>
              </a:rPr>
              <a:t>二十二、总结与展望</a:t>
            </a:r>
            <a:endParaRPr sz="6600">
              <a:gradFill>
                <a:gsLst>
                  <a:gs pos="0">
                    <a:schemeClr val="lt1"/>
                  </a:gs>
                  <a:gs pos="98000">
                    <a:schemeClr val="accent1">
                      <a:lumMod val="40000"/>
                      <a:lumOff val="60000"/>
                    </a:schemeClr>
                  </a:gs>
                </a:gsLst>
                <a:lin ang="21594000" scaled="0"/>
              </a:gra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" y="5743598"/>
            <a:ext cx="1142940" cy="885779"/>
          </a:xfrm>
          <a:prstGeom prst="rect">
            <a:avLst/>
          </a:prstGeom>
        </p:spPr>
      </p:pic>
      <p:pic>
        <p:nvPicPr>
          <p:cNvPr id="9" name="图片 8"/>
          <p:cNvPicPr/>
          <p:nvPr userDrawn="1">
            <p:custDataLst>
              <p:tags r:id="rId4"/>
            </p:custDataLst>
          </p:nvPr>
        </p:nvPicPr>
        <p:blipFill>
          <a:blip r:embed="rId5" r:link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691" y="5848985"/>
            <a:ext cx="1142940" cy="958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2800" b="1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附录：数据流简图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101600" tIns="0" rIns="82550" bIns="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Orbbec → PCAC.UnifiedDepthScanner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↓ RGBDFrame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RealtimeMappingPipeline [Track|Map|Render]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↓ mesh + pose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CenterPipelineService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├→ white_model (model/)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├→ Meshfix refine (outputs_realtime/)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└→ Material segments (outputs/*.glb)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   ↓ HTTP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Django ARproject → Three.js realm / center-realtime-mesh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1"/>
  <p:tag name="KSO_WM_UNIT_BK_DARK_LIGHT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1"/>
  <p:tag name="KSO_WM_UNIT_BK_DARK_LIGHT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MASK_FLAG" val="1"/>
  <p:tag name="KSO_WM_SLIDE_BACKGROUND_TYPE" val="belt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30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30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3930"/>
  <p:tag name="KSO_WM_TEMPLATE_THUMBS_INDEX" val="1、4、5、7、8、10、13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1"/>
  <p:tag name="KSO_WM_UNIT_BK_DARK_LIGHT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1"/>
  <p:tag name="KSO_WM_UNIT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1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1"/>
  <p:tag name="KSO_WM_UNIT_BK_DARK_LIGHT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1"/>
  <p:tag name="KSO_WM_UNIT_BK_DARK_LIGHT" val="1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1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MASK_FLAG" val="1"/>
  <p:tag name="KSO_WM_SLIDE_BACKGROUND_TYPE" val="belt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MASK_FLAG" val="1"/>
  <p:tag name="KSO_WM_SLIDE_BACKGROUND_TYPE" val="belt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30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930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3930"/>
  <p:tag name="KSO_WM_TEMPLATE_THUMBS_INDEX" val="1、4、5、7、8、10、13"/>
</p:tagLst>
</file>

<file path=ppt/tags/tag269.xml><?xml version="1.0" encoding="utf-8"?>
<p:tagLst xmlns:p="http://schemas.openxmlformats.org/presentationml/2006/main">
  <p:tag name="KSO_WM_UNIT_ISCONTENTSTITLE" val="0"/>
  <p:tag name="KSO_WM_UNIT_PRESET_TEXT" val="国际医疗高峰论坛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930_1*a*1"/>
  <p:tag name="KSO_WM_TEMPLATE_CATEGORY" val="custom"/>
  <p:tag name="KSO_WM_TEMPLATE_INDEX" val="20203930"/>
  <p:tag name="KSO_WM_UNIT_LAYERLEVEL" val="1"/>
  <p:tag name="KSO_WM_TAG_VERSION" val="1.0"/>
  <p:tag name="KSO_WM_BEAUTIFY_FLAG" val="#wm#"/>
  <p:tag name="KSO_WM_UNIT_ISNUMDGMTITLE" val="0"/>
  <p:tag name="KSO_WM_UNIT_TEXT_FILL_FORE_SCHEMECOLOR_INDEX_1_BRIGHTNESS" val="0"/>
  <p:tag name="KSO_WM_UNIT_TEXT_FILL_FORE_SCHEMECOLOR_INDEX_1" val="14"/>
  <p:tag name="KSO_WM_UNIT_TEXT_FILL_FORE_SCHEMECOLOR_INDEX_1_POS" val="0"/>
  <p:tag name="KSO_WM_UNIT_TEXT_FILL_FORE_SCHEMECOLOR_INDEX_1_TRANS" val="0"/>
  <p:tag name="KSO_WM_UNIT_TEXT_FILL_FORE_SCHEMECOLOR_INDEX_2_BRIGHTNESS" val="0.6"/>
  <p:tag name="KSO_WM_UNIT_TEXT_FILL_FORE_SCHEMECOLOR_INDEX_2" val="5"/>
  <p:tag name="KSO_WM_UNIT_TEXT_FILL_FORE_SCHEMECOLOR_INDEX_2_POS" val="0.98"/>
  <p:tag name="KSO_WM_UNIT_TEXT_FILL_FORE_SCHEMECOLOR_INDEX_2_TRANS" val="0"/>
  <p:tag name="KSO_WM_UNIT_TEXT_FILL_GRADIENT_TYPE" val="0"/>
  <p:tag name="KSO_WM_UNIT_TEXT_FILL_GRADIENT_ANGLE" val="359.9"/>
  <p:tag name="KSO_WM_UNIT_TEXT_FILL_GRADIENT_Direction" val="-2"/>
  <p:tag name="KSO_WM_UNIT_TEXT_FILL_TYPE" val="3"/>
  <p:tag name="KSO_WM_UNIT_TEXT_GLOW_SCHEMECOLOR_INDEX_BRIGHTNESS" val="0"/>
  <p:tag name="KSO_WM_UNIT_TEXT_GLOW_SCHEMECOLOR_INDEX" val="5"/>
</p:tagLst>
</file>

<file path=ppt/tags/tag270.xml><?xml version="1.0" encoding="utf-8"?>
<p:tagLst xmlns:p="http://schemas.openxmlformats.org/presentationml/2006/main">
  <p:tag name="KSO_WM_SLIDE_ID" val="custom20203930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3930"/>
  <p:tag name="KSO_WM_SLIDE_LAYOUT" val="a"/>
  <p:tag name="KSO_WM_SLIDE_LAYOUT_CNT" val="1"/>
  <p:tag name="KSO_WM_TEMPLATE_THUMBS_INDEX" val="1、4、5、7、8、10、13、15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73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76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79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82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85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88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91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94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97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00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03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06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09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12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15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18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21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24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27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30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33.xml><?xml version="1.0" encoding="utf-8"?>
<p:tagLst xmlns:p="http://schemas.openxmlformats.org/presentationml/2006/main">
  <p:tag name="KSO_WM_SLIDE_BK_DARK_LIGHT" val="1"/>
  <p:tag name="KSO_WM_SLIDE_BACKGROUND_TYPE" val="general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3930_15*a*1"/>
  <p:tag name="KSO_WM_TEMPLATE_CATEGORY" val="custom"/>
  <p:tag name="KSO_WM_TEMPLATE_INDEX" val="20203930"/>
  <p:tag name="KSO_WM_UNIT_LAYERLEVEL" val="1"/>
  <p:tag name="KSO_WM_TAG_VERSION" val="1.0"/>
  <p:tag name="KSO_WM_BEAUTIFY_FLAG" val="#wm#"/>
  <p:tag name="KSO_WM_UNIT_ISCONTENTSTITLE" val="0"/>
  <p:tag name="KSO_WM_UNIT_NOCLEAR" val="1"/>
  <p:tag name="KSO_WM_UNIT_TYPE" val="a"/>
  <p:tag name="KSO_WM_UNIT_INDEX" val="1"/>
  <p:tag name="KSO_WM_UNIT_PRESET_TEXT" val="感谢观看"/>
  <p:tag name="KSO_WM_UNIT_ISNUMDGMTITLE" val="0"/>
  <p:tag name="KSO_WM_UNIT_GLOW_SCHEMECOLOR_INDEX_BRIGHTNESS" val="0"/>
  <p:tag name="KSO_WM_UNIT_GLOW_SCHEMECOLOR_INDEX" val="9"/>
  <p:tag name="KSO_WM_UNIT_TEXT_FILL_FORE_SCHEMECOLOR_INDEX_1_BRIGHTNESS" val="0"/>
  <p:tag name="KSO_WM_UNIT_TEXT_FILL_FORE_SCHEMECOLOR_INDEX_1" val="14"/>
  <p:tag name="KSO_WM_UNIT_TEXT_FILL_FORE_SCHEMECOLOR_INDEX_1_POS" val="0"/>
  <p:tag name="KSO_WM_UNIT_TEXT_FILL_FORE_SCHEMECOLOR_INDEX_1_TRANS" val="0"/>
  <p:tag name="KSO_WM_UNIT_TEXT_FILL_FORE_SCHEMECOLOR_INDEX_2_BRIGHTNESS" val="0.6"/>
  <p:tag name="KSO_WM_UNIT_TEXT_FILL_FORE_SCHEMECOLOR_INDEX_2" val="5"/>
  <p:tag name="KSO_WM_UNIT_TEXT_FILL_FORE_SCHEMECOLOR_INDEX_2_POS" val="0.98"/>
  <p:tag name="KSO_WM_UNIT_TEXT_FILL_FORE_SCHEMECOLOR_INDEX_2_TRANS" val="0"/>
  <p:tag name="KSO_WM_UNIT_TEXT_FILL_GRADIENT_TYPE" val="0"/>
  <p:tag name="KSO_WM_UNIT_TEXT_FILL_GRADIENT_ANGLE" val="359.9"/>
  <p:tag name="KSO_WM_UNIT_TEXT_FILL_GRADIENT_Direction" val="-2"/>
  <p:tag name="KSO_WM_UNIT_TEXT_FILL_TYPE" val="3"/>
  <p:tag name="KSO_WM_UNIT_TEXT_GLOW_SCHEMECOLOR_INDEX_BRIGHTNESS" val="0"/>
  <p:tag name="KSO_WM_UNIT_TEXT_GLOW_SCHEMECOLOR_INDEX" val="5"/>
</p:tagLst>
</file>

<file path=ppt/tags/tag335.xml><?xml version="1.0" encoding="utf-8"?>
<p:tagLst xmlns:p="http://schemas.openxmlformats.org/presentationml/2006/main">
  <p:tag name="KSO_WM_SLIDE_ID" val="custom20203930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3930"/>
  <p:tag name="KSO_WM_SLIDE_TYPE" val="endPage"/>
  <p:tag name="KSO_WM_SLIDE_SUBTYPE" val="pureTxt"/>
  <p:tag name="KSO_WM_SLIDE_LAYOUT" val="a"/>
  <p:tag name="KSO_WM_SLIDE_LAYOUT_CNT" val="1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1"/>
  <p:tag name="KSO_WM_UNIT_TYPE" val="i"/>
</p:tagLst>
</file>

<file path=ppt/tags/tag338.xml><?xml version="1.0" encoding="utf-8"?>
<p:tagLst xmlns:p="http://schemas.openxmlformats.org/presentationml/2006/main">
  <p:tag name="KSO_WM_SLIDE_BK_DARK_LIGHT" val="1"/>
  <p:tag name="KSO_WM_SLIDE_BACKGROUND_TYPE" val="genera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51D3D"/>
      </a:dk2>
      <a:lt2>
        <a:srgbClr val="143661"/>
      </a:lt2>
      <a:accent1>
        <a:srgbClr val="47C3F2"/>
      </a:accent1>
      <a:accent2>
        <a:srgbClr val="69AAE9"/>
      </a:accent2>
      <a:accent3>
        <a:srgbClr val="8795DF"/>
      </a:accent3>
      <a:accent4>
        <a:srgbClr val="AE79D6"/>
      </a:accent4>
      <a:accent5>
        <a:srgbClr val="D060CC"/>
      </a:accent5>
      <a:accent6>
        <a:srgbClr val="F247C3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51D3D"/>
      </a:dk2>
      <a:lt2>
        <a:srgbClr val="143661"/>
      </a:lt2>
      <a:accent1>
        <a:srgbClr val="47C3F2"/>
      </a:accent1>
      <a:accent2>
        <a:srgbClr val="69AAE9"/>
      </a:accent2>
      <a:accent3>
        <a:srgbClr val="8795DF"/>
      </a:accent3>
      <a:accent4>
        <a:srgbClr val="AE79D6"/>
      </a:accent4>
      <a:accent5>
        <a:srgbClr val="D060CC"/>
      </a:accent5>
      <a:accent6>
        <a:srgbClr val="F247C3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7170</Words>
  <Application>WPS 演示</Application>
  <PresentationFormat>On-screen Show (4:3)</PresentationFormat>
  <Paragraphs>188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汉仪旗黑-85S</vt:lpstr>
      <vt:lpstr>黑体</vt:lpstr>
      <vt:lpstr>Office Theme</vt:lpstr>
      <vt:lpstr>2_Office 主题​​</vt:lpstr>
      <vt:lpstr>1_Office 主题​​</vt:lpstr>
      <vt:lpstr>基于 RGB-D 实时重建与 Web AR 的 沉浸式空间数字孪生系统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二十二、总结与展望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Bobby</cp:lastModifiedBy>
  <cp:revision>2</cp:revision>
  <dcterms:created xsi:type="dcterms:W3CDTF">2013-01-27T09:14:00Z</dcterms:created>
  <dcterms:modified xsi:type="dcterms:W3CDTF">2026-05-17T09:58:47Z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5DB3707A5EC045FBBE6C86C1335C8100_12</vt:lpwstr>
  </property>
  <property fmtid="{D5CDD505-2E9C-101B-9397-08002B2CF9AE}" pid="3" name="KSOProductBuildVer">
    <vt:lpwstr>2052-12.1.0.26375</vt:lpwstr>
  </property>
</Properties>
</file>